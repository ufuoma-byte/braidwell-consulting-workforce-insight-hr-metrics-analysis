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9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2" r:id="rId9"/>
    <p:sldId id="268" r:id="rId10"/>
    <p:sldId id="269" r:id="rId11"/>
    <p:sldId id="270" r:id="rId12"/>
    <p:sldId id="271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8335E5"/>
    <a:srgbClr val="6B8DE1"/>
    <a:srgbClr val="6C92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52" autoAdjust="0"/>
  </p:normalViewPr>
  <p:slideViewPr>
    <p:cSldViewPr snapToGrid="0" showGuides="1">
      <p:cViewPr varScale="1">
        <p:scale>
          <a:sx n="78" d="100"/>
          <a:sy n="78" d="100"/>
        </p:scale>
        <p:origin x="456" y="84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Job%20role%20by%20gender%20%20distribution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Years%20at%20Company%20and%20perfomance%20rating%20comparison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mployee%20Count%20by%20Years%20since%20last%20promotion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xcel%20final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data%20analysis\Employee%20Attrition%20by%20Department%20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NG" sz="1400" b="1" dirty="0">
                <a:solidFill>
                  <a:schemeClr val="tx1"/>
                </a:solidFill>
              </a:rPr>
              <a:t>Gender Distribution by Department</a:t>
            </a:r>
            <a:endParaRPr lang="en-US" sz="14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9042384775537632E-2"/>
          <c:y val="0.1565824040980294"/>
          <c:w val="0.77475618665620127"/>
          <c:h val="0.636623269673289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Sheet2!$B$2:$B$3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Sheet2!$A$4:$A$7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Sheet2!$B$4:$B$7</c:f>
              <c:numCache>
                <c:formatCode>General</c:formatCode>
                <c:ptCount val="3"/>
                <c:pt idx="0">
                  <c:v>20</c:v>
                </c:pt>
                <c:pt idx="1">
                  <c:v>379</c:v>
                </c:pt>
                <c:pt idx="2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EF-4B02-80FC-37377BC20AE1}"/>
            </c:ext>
          </c:extLst>
        </c:ser>
        <c:ser>
          <c:idx val="1"/>
          <c:order val="1"/>
          <c:tx>
            <c:strRef>
              <c:f>Sheet2!$C$2:$C$3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Sheet2!$A$4:$A$7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Sheet2!$C$4:$C$7</c:f>
              <c:numCache>
                <c:formatCode>General</c:formatCode>
                <c:ptCount val="3"/>
                <c:pt idx="0">
                  <c:v>43</c:v>
                </c:pt>
                <c:pt idx="1">
                  <c:v>582</c:v>
                </c:pt>
                <c:pt idx="2">
                  <c:v>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EF-4B02-80FC-37377BC20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0268735"/>
        <c:axId val="300269567"/>
      </c:barChart>
      <c:catAx>
        <c:axId val="300268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300269567"/>
        <c:crosses val="autoZero"/>
        <c:auto val="1"/>
        <c:lblAlgn val="ctr"/>
        <c:lblOffset val="100"/>
        <c:noMultiLvlLbl val="0"/>
      </c:catAx>
      <c:valAx>
        <c:axId val="300269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300268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[Job role by gender  distribution.csv]Sheet1!PivotTable9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G" sz="1600" b="1" dirty="0">
                <a:solidFill>
                  <a:schemeClr val="tx1"/>
                </a:solidFill>
              </a:rPr>
              <a:t>Job</a:t>
            </a:r>
            <a:r>
              <a:rPr lang="en-NG" sz="1600" b="1" baseline="0" dirty="0">
                <a:solidFill>
                  <a:schemeClr val="tx1"/>
                </a:solidFill>
              </a:rPr>
              <a:t> role by Gender Distribution</a:t>
            </a:r>
            <a:endParaRPr lang="en-US" sz="16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Sheet1!$A$5:$A$13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Sheet1!$B$5:$B$13</c:f>
              <c:numCache>
                <c:formatCode>General</c:formatCode>
                <c:ptCount val="9"/>
                <c:pt idx="0">
                  <c:v>51</c:v>
                </c:pt>
                <c:pt idx="1">
                  <c:v>16</c:v>
                </c:pt>
                <c:pt idx="2">
                  <c:v>85</c:v>
                </c:pt>
                <c:pt idx="3">
                  <c:v>47</c:v>
                </c:pt>
                <c:pt idx="4">
                  <c:v>72</c:v>
                </c:pt>
                <c:pt idx="5">
                  <c:v>33</c:v>
                </c:pt>
                <c:pt idx="6">
                  <c:v>114</c:v>
                </c:pt>
                <c:pt idx="7">
                  <c:v>132</c:v>
                </c:pt>
                <c:pt idx="8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02-498E-B991-819A6C2D4307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Sheet1!$A$5:$A$13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Sheet1!$C$5:$C$13</c:f>
              <c:numCache>
                <c:formatCode>General</c:formatCode>
                <c:ptCount val="9"/>
                <c:pt idx="0">
                  <c:v>80</c:v>
                </c:pt>
                <c:pt idx="1">
                  <c:v>36</c:v>
                </c:pt>
                <c:pt idx="2">
                  <c:v>174</c:v>
                </c:pt>
                <c:pt idx="3">
                  <c:v>55</c:v>
                </c:pt>
                <c:pt idx="4">
                  <c:v>73</c:v>
                </c:pt>
                <c:pt idx="5">
                  <c:v>47</c:v>
                </c:pt>
                <c:pt idx="6">
                  <c:v>178</c:v>
                </c:pt>
                <c:pt idx="7">
                  <c:v>194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02-498E-B991-819A6C2D43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1029215"/>
        <c:axId val="2091025887"/>
      </c:barChart>
      <c:catAx>
        <c:axId val="20910292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091025887"/>
        <c:crosses val="autoZero"/>
        <c:auto val="1"/>
        <c:lblAlgn val="ctr"/>
        <c:lblOffset val="100"/>
        <c:noMultiLvlLbl val="0"/>
      </c:catAx>
      <c:valAx>
        <c:axId val="20910258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091029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0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G" dirty="0"/>
              <a:t>Salary</a:t>
            </a:r>
            <a:r>
              <a:rPr lang="en-NG" baseline="0" dirty="0"/>
              <a:t> band by Distribution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0630370657219758"/>
          <c:y val="0.17585218944928105"/>
          <c:w val="0.66114129483814532"/>
          <c:h val="0.708019466316710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Sheet2!$J$2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Sheet2!$I$3:$I$22</c:f>
              <c:strCache>
                <c:ptCount val="19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</c:strCache>
            </c:strRef>
          </c:cat>
          <c:val>
            <c:numRef>
              <c:f>Sheet2!$J$3:$J$22</c:f>
              <c:numCache>
                <c:formatCode>General</c:formatCode>
                <c:ptCount val="19"/>
                <c:pt idx="0">
                  <c:v>33</c:v>
                </c:pt>
                <c:pt idx="1">
                  <c:v>362</c:v>
                </c:pt>
                <c:pt idx="2">
                  <c:v>147</c:v>
                </c:pt>
                <c:pt idx="3">
                  <c:v>207</c:v>
                </c:pt>
                <c:pt idx="4">
                  <c:v>165</c:v>
                </c:pt>
                <c:pt idx="5">
                  <c:v>121</c:v>
                </c:pt>
                <c:pt idx="6">
                  <c:v>54</c:v>
                </c:pt>
                <c:pt idx="7">
                  <c:v>48</c:v>
                </c:pt>
                <c:pt idx="8">
                  <c:v>52</c:v>
                </c:pt>
                <c:pt idx="9">
                  <c:v>66</c:v>
                </c:pt>
                <c:pt idx="10">
                  <c:v>20</c:v>
                </c:pt>
                <c:pt idx="11">
                  <c:v>10</c:v>
                </c:pt>
                <c:pt idx="12">
                  <c:v>43</c:v>
                </c:pt>
                <c:pt idx="13">
                  <c:v>9</c:v>
                </c:pt>
                <c:pt idx="14">
                  <c:v>7</c:v>
                </c:pt>
                <c:pt idx="15">
                  <c:v>29</c:v>
                </c:pt>
                <c:pt idx="16">
                  <c:v>28</c:v>
                </c:pt>
                <c:pt idx="17">
                  <c:v>19</c:v>
                </c:pt>
                <c:pt idx="18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77-48C9-97A1-3ACAA02DA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86994863"/>
        <c:axId val="286989455"/>
      </c:barChart>
      <c:catAx>
        <c:axId val="286994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86989455"/>
        <c:crosses val="autoZero"/>
        <c:auto val="1"/>
        <c:lblAlgn val="ctr"/>
        <c:lblOffset val="100"/>
        <c:noMultiLvlLbl val="0"/>
      </c:catAx>
      <c:valAx>
        <c:axId val="2869894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86994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1500" b="1" i="0" u="none" strike="noStrike" kern="1200" spc="0" baseline="0">
          <a:solidFill>
            <a:schemeClr val="tx1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G" sz="1500" b="1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Gender Pay Gap</a:t>
            </a:r>
            <a:endParaRPr lang="en-US" sz="1500" b="1" i="0" u="none" strike="noStrike" kern="1200" spc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Sheet2!$G$2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Sheet2!$F$3:$F$5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Sheet2!$G$3:$G$5</c:f>
              <c:numCache>
                <c:formatCode>0.00</c:formatCode>
                <c:ptCount val="2"/>
                <c:pt idx="0">
                  <c:v>6686.5663265306121</c:v>
                </c:pt>
                <c:pt idx="1">
                  <c:v>6380.5079365079364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F7-47F0-85FC-4835C484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0819855"/>
        <c:axId val="230813199"/>
      </c:barChart>
      <c:catAx>
        <c:axId val="23081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30813199"/>
        <c:crosses val="autoZero"/>
        <c:auto val="1"/>
        <c:lblAlgn val="ctr"/>
        <c:lblOffset val="100"/>
        <c:noMultiLvlLbl val="0"/>
      </c:catAx>
      <c:valAx>
        <c:axId val="23081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30819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1500" b="1" i="0" u="none" strike="noStrike" kern="1200" spc="0" baseline="0">
          <a:solidFill>
            <a:schemeClr val="tx1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G" dirty="0"/>
              <a:t>Top</a:t>
            </a:r>
            <a:r>
              <a:rPr lang="en-NG" baseline="0" dirty="0"/>
              <a:t> Performers Pay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5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Sheet2!$M$2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Sheet2!$L$3:$L$5</c:f>
              <c:strCache>
                <c:ptCount val="2"/>
                <c:pt idx="0">
                  <c:v>3</c:v>
                </c:pt>
                <c:pt idx="1">
                  <c:v>4</c:v>
                </c:pt>
              </c:strCache>
            </c:strRef>
          </c:cat>
          <c:val>
            <c:numRef>
              <c:f>Sheet2!$M$3:$M$5</c:f>
              <c:numCache>
                <c:formatCode>0.00</c:formatCode>
                <c:ptCount val="2"/>
                <c:pt idx="0">
                  <c:v>6537.2741157556275</c:v>
                </c:pt>
                <c:pt idx="1">
                  <c:v>6313.8938053097345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82-48CA-91AB-270DD1CDB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88130367"/>
        <c:axId val="288131615"/>
      </c:barChart>
      <c:catAx>
        <c:axId val="288130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88131615"/>
        <c:crosses val="autoZero"/>
        <c:auto val="1"/>
        <c:lblAlgn val="ctr"/>
        <c:lblOffset val="100"/>
        <c:noMultiLvlLbl val="0"/>
      </c:catAx>
      <c:valAx>
        <c:axId val="2881316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88130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>
        <a:defRPr lang="en-US" sz="1500" b="1" i="0" u="none" strike="noStrike" kern="1200" spc="0" baseline="0">
          <a:solidFill>
            <a:schemeClr val="tx1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Performance</a:t>
            </a:r>
            <a:r>
              <a:rPr lang="en-NG" sz="1400" dirty="0"/>
              <a:t> </a:t>
            </a:r>
            <a:r>
              <a:rPr lang="en-US" sz="1400" dirty="0"/>
              <a:t>Rating</a:t>
            </a:r>
            <a:r>
              <a:rPr lang="en-NG" sz="1400" dirty="0"/>
              <a:t> and</a:t>
            </a:r>
            <a:r>
              <a:rPr lang="en-NG" sz="1400" baseline="0" dirty="0"/>
              <a:t> years at company comparison</a:t>
            </a:r>
            <a:endParaRPr lang="en-US" sz="1400" dirty="0"/>
          </a:p>
        </c:rich>
      </c:tx>
      <c:layout>
        <c:manualLayout>
          <c:xMode val="edge"/>
          <c:yMode val="edge"/>
          <c:x val="0.20965266841644797"/>
          <c:y val="3.4930135603187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831714785651793E-2"/>
          <c:y val="0.13493165863407938"/>
          <c:w val="0.88389129483814521"/>
          <c:h val="0.7539699549784179"/>
        </c:manualLayout>
      </c:layout>
      <c:scatterChart>
        <c:scatterStyle val="lineMarker"/>
        <c:varyColors val="0"/>
        <c:ser>
          <c:idx val="0"/>
          <c:order val="0"/>
          <c:tx>
            <c:strRef>
              <c:f>'Years at Company and perfomance'!$B$1</c:f>
              <c:strCache>
                <c:ptCount val="1"/>
                <c:pt idx="0">
                  <c:v>PerformanceRating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'Years at Company and perfomance'!$A$2:$A$66</c:f>
              <c:numCache>
                <c:formatCode>General</c:formatCode>
                <c:ptCount val="6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5</c:v>
                </c:pt>
                <c:pt idx="11">
                  <c:v>5</c:v>
                </c:pt>
                <c:pt idx="12">
                  <c:v>6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8</c:v>
                </c:pt>
                <c:pt idx="17">
                  <c:v>8</c:v>
                </c:pt>
                <c:pt idx="18">
                  <c:v>9</c:v>
                </c:pt>
                <c:pt idx="19">
                  <c:v>9</c:v>
                </c:pt>
                <c:pt idx="20">
                  <c:v>10</c:v>
                </c:pt>
                <c:pt idx="21">
                  <c:v>10</c:v>
                </c:pt>
                <c:pt idx="22">
                  <c:v>11</c:v>
                </c:pt>
                <c:pt idx="23">
                  <c:v>11</c:v>
                </c:pt>
                <c:pt idx="24">
                  <c:v>12</c:v>
                </c:pt>
                <c:pt idx="25">
                  <c:v>12</c:v>
                </c:pt>
                <c:pt idx="26">
                  <c:v>13</c:v>
                </c:pt>
                <c:pt idx="27">
                  <c:v>13</c:v>
                </c:pt>
                <c:pt idx="28">
                  <c:v>14</c:v>
                </c:pt>
                <c:pt idx="29">
                  <c:v>14</c:v>
                </c:pt>
                <c:pt idx="30">
                  <c:v>15</c:v>
                </c:pt>
                <c:pt idx="31">
                  <c:v>15</c:v>
                </c:pt>
                <c:pt idx="32">
                  <c:v>16</c:v>
                </c:pt>
                <c:pt idx="33">
                  <c:v>16</c:v>
                </c:pt>
                <c:pt idx="34">
                  <c:v>17</c:v>
                </c:pt>
                <c:pt idx="35">
                  <c:v>17</c:v>
                </c:pt>
                <c:pt idx="36">
                  <c:v>18</c:v>
                </c:pt>
                <c:pt idx="37">
                  <c:v>18</c:v>
                </c:pt>
                <c:pt idx="38">
                  <c:v>19</c:v>
                </c:pt>
                <c:pt idx="39">
                  <c:v>19</c:v>
                </c:pt>
                <c:pt idx="40">
                  <c:v>20</c:v>
                </c:pt>
                <c:pt idx="41">
                  <c:v>20</c:v>
                </c:pt>
                <c:pt idx="42">
                  <c:v>21</c:v>
                </c:pt>
                <c:pt idx="43">
                  <c:v>21</c:v>
                </c:pt>
                <c:pt idx="44">
                  <c:v>22</c:v>
                </c:pt>
                <c:pt idx="45">
                  <c:v>22</c:v>
                </c:pt>
                <c:pt idx="46">
                  <c:v>23</c:v>
                </c:pt>
                <c:pt idx="47">
                  <c:v>23</c:v>
                </c:pt>
                <c:pt idx="48">
                  <c:v>24</c:v>
                </c:pt>
                <c:pt idx="49">
                  <c:v>24</c:v>
                </c:pt>
                <c:pt idx="50">
                  <c:v>25</c:v>
                </c:pt>
                <c:pt idx="51">
                  <c:v>26</c:v>
                </c:pt>
                <c:pt idx="52">
                  <c:v>26</c:v>
                </c:pt>
                <c:pt idx="53">
                  <c:v>27</c:v>
                </c:pt>
                <c:pt idx="54">
                  <c:v>29</c:v>
                </c:pt>
                <c:pt idx="55">
                  <c:v>29</c:v>
                </c:pt>
                <c:pt idx="56">
                  <c:v>30</c:v>
                </c:pt>
                <c:pt idx="57">
                  <c:v>31</c:v>
                </c:pt>
                <c:pt idx="58">
                  <c:v>32</c:v>
                </c:pt>
                <c:pt idx="59">
                  <c:v>33</c:v>
                </c:pt>
                <c:pt idx="60">
                  <c:v>34</c:v>
                </c:pt>
                <c:pt idx="61">
                  <c:v>36</c:v>
                </c:pt>
                <c:pt idx="62">
                  <c:v>36</c:v>
                </c:pt>
                <c:pt idx="63">
                  <c:v>37</c:v>
                </c:pt>
                <c:pt idx="64">
                  <c:v>40</c:v>
                </c:pt>
              </c:numCache>
            </c:numRef>
          </c:xVal>
          <c:yVal>
            <c:numRef>
              <c:f>'Years at Company and perfomance'!$B$2:$B$66</c:f>
              <c:numCache>
                <c:formatCode>General</c:formatCode>
                <c:ptCount val="6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3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3</c:v>
                </c:pt>
                <c:pt idx="21">
                  <c:v>4</c:v>
                </c:pt>
                <c:pt idx="22">
                  <c:v>3</c:v>
                </c:pt>
                <c:pt idx="23">
                  <c:v>4</c:v>
                </c:pt>
                <c:pt idx="24">
                  <c:v>3</c:v>
                </c:pt>
                <c:pt idx="25">
                  <c:v>4</c:v>
                </c:pt>
                <c:pt idx="26">
                  <c:v>3</c:v>
                </c:pt>
                <c:pt idx="27">
                  <c:v>4</c:v>
                </c:pt>
                <c:pt idx="28">
                  <c:v>3</c:v>
                </c:pt>
                <c:pt idx="29">
                  <c:v>4</c:v>
                </c:pt>
                <c:pt idx="30">
                  <c:v>3</c:v>
                </c:pt>
                <c:pt idx="31">
                  <c:v>4</c:v>
                </c:pt>
                <c:pt idx="32">
                  <c:v>3</c:v>
                </c:pt>
                <c:pt idx="33">
                  <c:v>4</c:v>
                </c:pt>
                <c:pt idx="34">
                  <c:v>3</c:v>
                </c:pt>
                <c:pt idx="35">
                  <c:v>4</c:v>
                </c:pt>
                <c:pt idx="36">
                  <c:v>3</c:v>
                </c:pt>
                <c:pt idx="37">
                  <c:v>4</c:v>
                </c:pt>
                <c:pt idx="38">
                  <c:v>3</c:v>
                </c:pt>
                <c:pt idx="39">
                  <c:v>4</c:v>
                </c:pt>
                <c:pt idx="40">
                  <c:v>3</c:v>
                </c:pt>
                <c:pt idx="41">
                  <c:v>4</c:v>
                </c:pt>
                <c:pt idx="42">
                  <c:v>3</c:v>
                </c:pt>
                <c:pt idx="43">
                  <c:v>4</c:v>
                </c:pt>
                <c:pt idx="44">
                  <c:v>3</c:v>
                </c:pt>
                <c:pt idx="45">
                  <c:v>4</c:v>
                </c:pt>
                <c:pt idx="46">
                  <c:v>3</c:v>
                </c:pt>
                <c:pt idx="47">
                  <c:v>4</c:v>
                </c:pt>
                <c:pt idx="48">
                  <c:v>3</c:v>
                </c:pt>
                <c:pt idx="49">
                  <c:v>4</c:v>
                </c:pt>
                <c:pt idx="50">
                  <c:v>3</c:v>
                </c:pt>
                <c:pt idx="51">
                  <c:v>3</c:v>
                </c:pt>
                <c:pt idx="52">
                  <c:v>4</c:v>
                </c:pt>
                <c:pt idx="53">
                  <c:v>3</c:v>
                </c:pt>
                <c:pt idx="54">
                  <c:v>3</c:v>
                </c:pt>
                <c:pt idx="55">
                  <c:v>4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4</c:v>
                </c:pt>
                <c:pt idx="63">
                  <c:v>3</c:v>
                </c:pt>
                <c:pt idx="64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59-49AE-837C-8A1D3EBD1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51903"/>
        <c:axId val="20651071"/>
      </c:scatterChart>
      <c:valAx>
        <c:axId val="20651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0651071"/>
        <c:crosses val="autoZero"/>
        <c:crossBetween val="midCat"/>
      </c:valAx>
      <c:valAx>
        <c:axId val="2065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06519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sz="1500" b="1" i="0" u="none" strike="noStrike" kern="1200" spc="0" baseline="0">
          <a:solidFill>
            <a:schemeClr val="tx1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P</a:t>
            </a:r>
            <a:r>
              <a:rPr lang="en-NG" sz="1800"/>
              <a:t>romotion by gender and Department 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Sheet2!$P$3:$P$4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Sheet2!$O$5:$O$8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Sheet2!$P$5:$P$8</c:f>
              <c:numCache>
                <c:formatCode>General</c:formatCode>
                <c:ptCount val="3"/>
                <c:pt idx="0">
                  <c:v>20</c:v>
                </c:pt>
                <c:pt idx="1">
                  <c:v>379</c:v>
                </c:pt>
                <c:pt idx="2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5-43DF-8ADE-EFFEC0B589D4}"/>
            </c:ext>
          </c:extLst>
        </c:ser>
        <c:ser>
          <c:idx val="1"/>
          <c:order val="1"/>
          <c:tx>
            <c:strRef>
              <c:f>Sheet2!$Q$3:$Q$4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Sheet2!$O$5:$O$8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Sheet2!$Q$5:$Q$8</c:f>
              <c:numCache>
                <c:formatCode>General</c:formatCode>
                <c:ptCount val="3"/>
                <c:pt idx="0">
                  <c:v>43</c:v>
                </c:pt>
                <c:pt idx="1">
                  <c:v>582</c:v>
                </c:pt>
                <c:pt idx="2">
                  <c:v>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C5-43DF-8ADE-EFFEC0B58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19535"/>
        <c:axId val="145521199"/>
      </c:barChart>
      <c:catAx>
        <c:axId val="145519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5521199"/>
        <c:crosses val="autoZero"/>
        <c:auto val="1"/>
        <c:lblAlgn val="ctr"/>
        <c:lblOffset val="100"/>
        <c:noMultiLvlLbl val="0"/>
      </c:catAx>
      <c:valAx>
        <c:axId val="145521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5519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1800" b="1" i="0" u="none" strike="noStrike" kern="1200" spc="0" baseline="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8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NG" sz="1800"/>
              <a:t>Employees by years since last promotion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8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'Employee Count by Years since l'!$B$1</c:f>
              <c:strCache>
                <c:ptCount val="1"/>
                <c:pt idx="0">
                  <c:v>Sum of EmployeeCount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'Employee Count by Years since l'!$A$2:$A$17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'Employee Count by Years since l'!$B$2:$B$17</c:f>
              <c:numCache>
                <c:formatCode>General</c:formatCode>
                <c:ptCount val="16"/>
                <c:pt idx="0">
                  <c:v>581</c:v>
                </c:pt>
                <c:pt idx="1">
                  <c:v>357</c:v>
                </c:pt>
                <c:pt idx="2">
                  <c:v>159</c:v>
                </c:pt>
                <c:pt idx="3">
                  <c:v>52</c:v>
                </c:pt>
                <c:pt idx="4">
                  <c:v>61</c:v>
                </c:pt>
                <c:pt idx="5">
                  <c:v>45</c:v>
                </c:pt>
                <c:pt idx="6">
                  <c:v>32</c:v>
                </c:pt>
                <c:pt idx="7">
                  <c:v>76</c:v>
                </c:pt>
                <c:pt idx="8">
                  <c:v>18</c:v>
                </c:pt>
                <c:pt idx="9">
                  <c:v>17</c:v>
                </c:pt>
                <c:pt idx="10">
                  <c:v>6</c:v>
                </c:pt>
                <c:pt idx="11">
                  <c:v>24</c:v>
                </c:pt>
                <c:pt idx="12">
                  <c:v>10</c:v>
                </c:pt>
                <c:pt idx="13">
                  <c:v>10</c:v>
                </c:pt>
                <c:pt idx="14">
                  <c:v>9</c:v>
                </c:pt>
                <c:pt idx="15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D8-444F-B0A0-01CB095FC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495055"/>
        <c:axId val="25496303"/>
      </c:scatterChart>
      <c:valAx>
        <c:axId val="25495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5496303"/>
        <c:crosses val="autoZero"/>
        <c:crossBetween val="midCat"/>
      </c:valAx>
      <c:valAx>
        <c:axId val="25496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5495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 rtl="0">
        <a:defRPr lang="en-US" sz="1800" b="1" i="0" u="none" strike="noStrike" kern="1200" spc="0" baseline="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final project.xlsx]Sheet2!PivotTable7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6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NG"/>
              <a:t>Attrition Analysis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6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800" b="1" i="0" u="none" strike="noStrike" kern="1200" spc="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Sheet2!$U$4:$U$5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Sheet2!$T$6:$T$9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Sheet2!$U$6:$U$9</c:f>
              <c:numCache>
                <c:formatCode>General</c:formatCode>
                <c:ptCount val="3"/>
                <c:pt idx="0">
                  <c:v>51</c:v>
                </c:pt>
                <c:pt idx="1">
                  <c:v>828</c:v>
                </c:pt>
                <c:pt idx="2">
                  <c:v>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2-48CE-9A89-AAC282D30D9A}"/>
            </c:ext>
          </c:extLst>
        </c:ser>
        <c:ser>
          <c:idx val="1"/>
          <c:order val="1"/>
          <c:tx>
            <c:strRef>
              <c:f>Sheet2!$V$4:$V$5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Sheet2!$T$6:$T$9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Sheet2!$V$6:$V$9</c:f>
              <c:numCache>
                <c:formatCode>General</c:formatCode>
                <c:ptCount val="3"/>
                <c:pt idx="0">
                  <c:v>12</c:v>
                </c:pt>
                <c:pt idx="1">
                  <c:v>133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62-48CE-9A89-AAC282D30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7347695"/>
        <c:axId val="987344367"/>
      </c:barChart>
      <c:catAx>
        <c:axId val="987347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1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87344367"/>
        <c:crosses val="autoZero"/>
        <c:auto val="1"/>
        <c:lblAlgn val="ctr"/>
        <c:lblOffset val="100"/>
        <c:noMultiLvlLbl val="0"/>
      </c:catAx>
      <c:valAx>
        <c:axId val="98734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87347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1800" b="1" i="0" u="none" strike="noStrike" kern="1200" spc="0" baseline="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 Attrition by Department .csv]Sheet1!PivotTable32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6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NG"/>
              <a:t>Attrition by Department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6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spc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280330723016984"/>
          <c:y val="0.11811213609458567"/>
          <c:w val="0.76760918413305879"/>
          <c:h val="0.786627202041696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Sheet1!$A$5:$A$8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Sheet1!$B$5:$B$8</c:f>
              <c:numCache>
                <c:formatCode>General</c:formatCode>
                <c:ptCount val="3"/>
                <c:pt idx="0">
                  <c:v>51</c:v>
                </c:pt>
                <c:pt idx="1">
                  <c:v>828</c:v>
                </c:pt>
                <c:pt idx="2">
                  <c:v>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6-4B53-8BA9-7E394817E5F9}"/>
            </c:ext>
          </c:extLst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Sheet1!$A$5:$A$8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Sheet1!$C$5:$C$8</c:f>
              <c:numCache>
                <c:formatCode>General</c:formatCode>
                <c:ptCount val="3"/>
                <c:pt idx="0">
                  <c:v>12</c:v>
                </c:pt>
                <c:pt idx="1">
                  <c:v>133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36-4B53-8BA9-7E394817E5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416351"/>
        <c:axId val="18666879"/>
      </c:barChart>
      <c:catAx>
        <c:axId val="30416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1" i="0" u="none" strike="noStrike" kern="1200" spc="-15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8666879"/>
        <c:crosses val="autoZero"/>
        <c:auto val="1"/>
        <c:lblAlgn val="ctr"/>
        <c:lblOffset val="100"/>
        <c:noMultiLvlLbl val="0"/>
      </c:catAx>
      <c:valAx>
        <c:axId val="1866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30416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1800" b="1" i="0" u="none" strike="noStrike" kern="1200" spc="0" baseline="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80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67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7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605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94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706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82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2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79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8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4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76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6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4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9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7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0636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19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828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98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45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1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8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404719" y="1959726"/>
            <a:ext cx="4845708" cy="11695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800" b="1" i="0" u="none" strike="noStrike" baseline="0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Braidwell</a:t>
            </a:r>
            <a:r>
              <a:rPr lang="en-US" sz="3800" b="1" i="0" u="none" strike="noStrike" baseline="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Consulting Workforce Insight</a:t>
            </a:r>
            <a:endParaRPr lang="en-US" sz="38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56944" y="3429000"/>
            <a:ext cx="4845708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NG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HR METRICS ANALYSIS BY UFUOMA PRECIOUS AVWORU</a:t>
            </a:r>
            <a:endParaRPr lang="en-US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15609" y="-2777194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83821" y="738390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NG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sz="32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11D787-E830-4638-97B3-205F0A0ABC3F}"/>
              </a:ext>
            </a:extLst>
          </p:cNvPr>
          <p:cNvGrpSpPr/>
          <p:nvPr/>
        </p:nvGrpSpPr>
        <p:grpSpPr>
          <a:xfrm>
            <a:off x="518433" y="1881815"/>
            <a:ext cx="4201583" cy="3200876"/>
            <a:chOff x="518433" y="1851126"/>
            <a:chExt cx="4201583" cy="32008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FCD1AA-E1CA-41D6-8605-56AFEBE4EEE3}"/>
                </a:ext>
              </a:extLst>
            </p:cNvPr>
            <p:cNvSpPr/>
            <p:nvPr/>
          </p:nvSpPr>
          <p:spPr>
            <a:xfrm>
              <a:off x="518433" y="1981199"/>
              <a:ext cx="443592" cy="23229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101D99-B002-4698-9C7E-C942B9AA2D39}"/>
                </a:ext>
              </a:extLst>
            </p:cNvPr>
            <p:cNvSpPr/>
            <p:nvPr/>
          </p:nvSpPr>
          <p:spPr>
            <a:xfrm>
              <a:off x="1183821" y="1851126"/>
              <a:ext cx="3536195" cy="320087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600" i="1" dirty="0" err="1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Braidwell</a:t>
              </a: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 Consulting, a rapidly growing firm in Nigeria, has experienced rising concerns from its HR</a:t>
              </a:r>
            </a:p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department. The company is struggling with:</a:t>
              </a:r>
            </a:p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- Low retention in critical departments</a:t>
              </a:r>
            </a:p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- Growing concerns about fairness in promotions</a:t>
              </a:r>
            </a:p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- Suspected gender-related salary gaps</a:t>
              </a:r>
            </a:p>
            <a:p>
              <a:pPr marL="285750" indent="-285750">
                <a:buFontTx/>
                <a:buChar char="-"/>
              </a:pP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Compliance issues with minimum salary regulation</a:t>
              </a:r>
              <a:endParaRPr lang="en-NG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  <a:p>
              <a:r>
                <a:rPr lang="en-NG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This is a </a:t>
              </a: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 a full-scale internal audit based on their workforce dataset 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" name="Group 61" descr="This image is a woman's hand writing on a piece of paper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2</a:t>
            </a:r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 hidden="1">
            <a:extLst>
              <a:ext uri="{FF2B5EF4-FFF2-40B4-BE49-F238E27FC236}">
                <a16:creationId xmlns:a16="http://schemas.microsoft.com/office/drawing/2014/main" id="{3D46526D-118F-4F6F-BAE0-066F422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3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470070FC-19D0-4354-9BC9-608A5DC4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2895600"/>
              <a:gd name="connsiteX1" fmla="*/ 12192000 w 12192000"/>
              <a:gd name="connsiteY1" fmla="*/ 0 h 2895600"/>
              <a:gd name="connsiteX2" fmla="*/ 12192000 w 12192000"/>
              <a:gd name="connsiteY2" fmla="*/ 2895600 h 2895600"/>
              <a:gd name="connsiteX3" fmla="*/ 0 w 12192000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95600">
                <a:moveTo>
                  <a:pt x="0" y="0"/>
                </a:moveTo>
                <a:lnTo>
                  <a:pt x="12192000" y="0"/>
                </a:lnTo>
                <a:lnTo>
                  <a:pt x="12192000" y="2895600"/>
                </a:lnTo>
                <a:lnTo>
                  <a:pt x="0" y="2895600"/>
                </a:lnTo>
                <a:close/>
              </a:path>
            </a:pathLst>
          </a:cu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C9C2C56A-C4D4-4578-84E9-27FD62603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036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Are top performers being fairly compensated?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EF5FE-6C45-4BF6-9676-571742C3CDD7}"/>
              </a:ext>
            </a:extLst>
          </p:cNvPr>
          <p:cNvSpPr txBox="1"/>
          <p:nvPr/>
        </p:nvSpPr>
        <p:spPr>
          <a:xfrm>
            <a:off x="230037" y="3615601"/>
            <a:ext cx="4063235" cy="5589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NG" sz="60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Objectives</a:t>
            </a:r>
            <a:endParaRPr lang="en-US" sz="60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41C7FC4-FEFA-4A96-9749-9068C686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7069" y="0"/>
            <a:ext cx="3961053" cy="685799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7CEFD8"/>
              </a:gs>
              <a:gs pos="71000">
                <a:srgbClr val="6672E4"/>
              </a:gs>
              <a:gs pos="100000">
                <a:srgbClr val="882BE5"/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BB415A0-39A4-4597-926D-819C3331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20172" y="316202"/>
            <a:ext cx="2937375" cy="6273966"/>
            <a:chOff x="5138943" y="1723162"/>
            <a:chExt cx="2569364" cy="40240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7E4A54-8A0F-43A0-AA7D-F508F05BB2EF}"/>
                </a:ext>
              </a:extLst>
            </p:cNvPr>
            <p:cNvSpPr/>
            <p:nvPr/>
          </p:nvSpPr>
          <p:spPr>
            <a:xfrm>
              <a:off x="5167965" y="1973089"/>
              <a:ext cx="2453511" cy="41455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i="1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What is the gender distribution across departments and job roles?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600301E-404F-4763-892B-EE1C3109F4D3}"/>
                </a:ext>
              </a:extLst>
            </p:cNvPr>
            <p:cNvSpPr/>
            <p:nvPr/>
          </p:nvSpPr>
          <p:spPr>
            <a:xfrm>
              <a:off x="5167963" y="2516157"/>
              <a:ext cx="2342103" cy="41455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i="1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Are there departments dominated by a particular gender?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7E16F25-9A73-4F49-8593-4DDEE2A8AB5D}"/>
                </a:ext>
              </a:extLst>
            </p:cNvPr>
            <p:cNvSpPr/>
            <p:nvPr/>
          </p:nvSpPr>
          <p:spPr>
            <a:xfrm>
              <a:off x="5188228" y="3381899"/>
              <a:ext cx="2488294" cy="13818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i="1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Is there a gender pay gap?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482C2C4-A83F-481A-A4DA-8A5D9AD7A680}"/>
                </a:ext>
              </a:extLst>
            </p:cNvPr>
            <p:cNvSpPr/>
            <p:nvPr/>
          </p:nvSpPr>
          <p:spPr>
            <a:xfrm>
              <a:off x="5167964" y="3688750"/>
              <a:ext cx="2453513" cy="41455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400" i="1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rPr>
                <a:t>Are employees paid above the required minimum salary (9000/month)?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2F17230-3C6B-4C60-8575-90C979038AC0}"/>
                </a:ext>
              </a:extLst>
            </p:cNvPr>
            <p:cNvGrpSpPr/>
            <p:nvPr/>
          </p:nvGrpSpPr>
          <p:grpSpPr>
            <a:xfrm>
              <a:off x="5138943" y="1723162"/>
              <a:ext cx="2569364" cy="1371316"/>
              <a:chOff x="5138943" y="1841098"/>
              <a:chExt cx="2569364" cy="1371316"/>
            </a:xfrm>
          </p:grpSpPr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214774FE-1FFD-4D64-8A37-76CB44EB021C}"/>
                  </a:ext>
                </a:extLst>
              </p:cNvPr>
              <p:cNvSpPr/>
              <p:nvPr/>
            </p:nvSpPr>
            <p:spPr>
              <a:xfrm>
                <a:off x="5138943" y="3123832"/>
                <a:ext cx="2421164" cy="8858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C76473C-D689-4828-A3C2-DBFA64DB3596}"/>
                  </a:ext>
                </a:extLst>
              </p:cNvPr>
              <p:cNvSpPr/>
              <p:nvPr/>
            </p:nvSpPr>
            <p:spPr>
              <a:xfrm>
                <a:off x="5254795" y="1841098"/>
                <a:ext cx="2453512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b="1" i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Workforce Composition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04189C-E133-4D62-9D02-29130FCCC123}"/>
                </a:ext>
              </a:extLst>
            </p:cNvPr>
            <p:cNvGrpSpPr/>
            <p:nvPr/>
          </p:nvGrpSpPr>
          <p:grpSpPr>
            <a:xfrm>
              <a:off x="5157649" y="3142584"/>
              <a:ext cx="2421164" cy="1522753"/>
              <a:chOff x="5157649" y="3177730"/>
              <a:chExt cx="2421164" cy="1522753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AF05105-E146-4A76-80BC-D132339D80CC}"/>
                  </a:ext>
                </a:extLst>
              </p:cNvPr>
              <p:cNvSpPr/>
              <p:nvPr/>
            </p:nvSpPr>
            <p:spPr>
              <a:xfrm>
                <a:off x="5157649" y="4611901"/>
                <a:ext cx="2421164" cy="8858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C35B425-E17C-46A6-BC1C-89C34E2B336C}"/>
                  </a:ext>
                </a:extLst>
              </p:cNvPr>
              <p:cNvSpPr/>
              <p:nvPr/>
            </p:nvSpPr>
            <p:spPr>
              <a:xfrm>
                <a:off x="5254795" y="3177730"/>
                <a:ext cx="1803607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b="1" i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Salary Structure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413DCC-904B-4563-90F1-A5A71C657368}"/>
                </a:ext>
              </a:extLst>
            </p:cNvPr>
            <p:cNvGrpSpPr/>
            <p:nvPr/>
          </p:nvGrpSpPr>
          <p:grpSpPr>
            <a:xfrm>
              <a:off x="5138943" y="4164725"/>
              <a:ext cx="2537578" cy="1582513"/>
              <a:chOff x="5138943" y="4164725"/>
              <a:chExt cx="2537578" cy="1582513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3EE0ED0C-1321-4AB3-B03A-B7AD85571E6C}"/>
                  </a:ext>
                </a:extLst>
              </p:cNvPr>
              <p:cNvSpPr/>
              <p:nvPr/>
            </p:nvSpPr>
            <p:spPr>
              <a:xfrm>
                <a:off x="5138943" y="5658656"/>
                <a:ext cx="2421164" cy="8858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101B8DB-BADB-4084-8CD6-6CEEA620099A}"/>
                  </a:ext>
                </a:extLst>
              </p:cNvPr>
              <p:cNvSpPr/>
              <p:nvPr/>
            </p:nvSpPr>
            <p:spPr>
              <a:xfrm>
                <a:off x="5188228" y="4164725"/>
                <a:ext cx="2488293" cy="41455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1400" i="1" dirty="0">
                    <a:solidFill>
                      <a:schemeClr val="bg1"/>
                    </a:solidFill>
                    <a:latin typeface="+mj-lt"/>
                    <a:cs typeface="Segoe UI" panose="020B0502040204020203" pitchFamily="34" charset="0"/>
                  </a:rPr>
                  <a:t> How is salary distributed across salary bands (1000 increments)?</a:t>
                </a: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94AEDC0-6B1D-4A3D-860D-83756CC38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618" y="1300476"/>
            <a:ext cx="3433536" cy="4645552"/>
            <a:chOff x="8462691" y="1300476"/>
            <a:chExt cx="3130287" cy="3084567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AECCF3F-B2FA-4F0A-96EE-B54207D66547}"/>
                </a:ext>
              </a:extLst>
            </p:cNvPr>
            <p:cNvSpPr txBox="1"/>
            <p:nvPr/>
          </p:nvSpPr>
          <p:spPr>
            <a:xfrm>
              <a:off x="8462691" y="1300476"/>
              <a:ext cx="304713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Promotions &amp; Opportunities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DAD2E5F-3DBB-47BA-B90E-DDB45972B6AF}"/>
                </a:ext>
              </a:extLst>
            </p:cNvPr>
            <p:cNvSpPr/>
            <p:nvPr/>
          </p:nvSpPr>
          <p:spPr>
            <a:xfrm>
              <a:off x="8602601" y="1598460"/>
              <a:ext cx="2975669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Who is being promoted more by gender and department?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6650A66-75C3-4933-AFC0-6AB58DFE89D9}"/>
                </a:ext>
              </a:extLst>
            </p:cNvPr>
            <p:cNvSpPr txBox="1"/>
            <p:nvPr/>
          </p:nvSpPr>
          <p:spPr>
            <a:xfrm>
              <a:off x="8462691" y="2799707"/>
              <a:ext cx="304713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Attrition &amp; Turnover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D1F5E0B-9D11-43FF-9946-9B61EF9D6E88}"/>
                </a:ext>
              </a:extLst>
            </p:cNvPr>
            <p:cNvSpPr/>
            <p:nvPr/>
          </p:nvSpPr>
          <p:spPr>
            <a:xfrm>
              <a:off x="8617309" y="3235157"/>
              <a:ext cx="2975669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Which employees left the company and why?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81FF210-334C-43FA-80C2-0E1E9F3F51C4}"/>
                </a:ext>
              </a:extLst>
            </p:cNvPr>
            <p:cNvCxnSpPr>
              <a:cxnSpLocks/>
            </p:cNvCxnSpPr>
            <p:nvPr/>
          </p:nvCxnSpPr>
          <p:spPr>
            <a:xfrm>
              <a:off x="8462691" y="4385043"/>
              <a:ext cx="299611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F599308-2B51-4D9D-9F9B-2C2E81CA918F}"/>
                </a:ext>
              </a:extLst>
            </p:cNvPr>
            <p:cNvCxnSpPr>
              <a:cxnSpLocks/>
            </p:cNvCxnSpPr>
            <p:nvPr/>
          </p:nvCxnSpPr>
          <p:spPr>
            <a:xfrm>
              <a:off x="8462691" y="2651992"/>
              <a:ext cx="299611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44B826-64A0-4069-93C8-B7CF1D3299B6}"/>
              </a:ext>
            </a:extLst>
          </p:cNvPr>
          <p:cNvSpPr/>
          <p:nvPr/>
        </p:nvSpPr>
        <p:spPr>
          <a:xfrm>
            <a:off x="4857972" y="5020799"/>
            <a:ext cx="206193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Performance vs Pay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69EE5E9-99A3-436F-BA59-7CA83BD36F32}"/>
              </a:ext>
            </a:extLst>
          </p:cNvPr>
          <p:cNvSpPr/>
          <p:nvPr/>
        </p:nvSpPr>
        <p:spPr>
          <a:xfrm>
            <a:off x="4753348" y="5330322"/>
            <a:ext cx="284469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 Are top performers being fairly compensated?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4C50267-C899-4955-8C88-62E927035FB7}"/>
              </a:ext>
            </a:extLst>
          </p:cNvPr>
          <p:cNvSpPr/>
          <p:nvPr/>
        </p:nvSpPr>
        <p:spPr>
          <a:xfrm>
            <a:off x="4743147" y="5891452"/>
            <a:ext cx="284469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 Do performance ratings align with years at company?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41BC1B9-923E-4C15-93AB-4836A42DD2AC}"/>
              </a:ext>
            </a:extLst>
          </p:cNvPr>
          <p:cNvSpPr/>
          <p:nvPr/>
        </p:nvSpPr>
        <p:spPr>
          <a:xfrm>
            <a:off x="8506967" y="2413179"/>
            <a:ext cx="297566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Is there a pattern in who gets promoted vs who does</a:t>
            </a:r>
            <a:r>
              <a:rPr lang="en-NG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not?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455D750-0726-436E-AD35-64959E92EC44}"/>
              </a:ext>
            </a:extLst>
          </p:cNvPr>
          <p:cNvSpPr/>
          <p:nvPr/>
        </p:nvSpPr>
        <p:spPr>
          <a:xfrm>
            <a:off x="8534949" y="4913306"/>
            <a:ext cx="297566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NG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</a:t>
            </a:r>
            <a:r>
              <a: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re there patterns by department, gender, salary, or performance?</a:t>
            </a:r>
          </a:p>
        </p:txBody>
      </p:sp>
    </p:spTree>
    <p:extLst>
      <p:ext uri="{BB962C8B-B14F-4D97-AF65-F5344CB8AC3E}">
        <p14:creationId xmlns:p14="http://schemas.microsoft.com/office/powerpoint/2010/main" val="186094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3DF722C9-361F-401E-AD34-54132A8436B3}"/>
              </a:ext>
            </a:extLst>
          </p:cNvPr>
          <p:cNvSpPr txBox="1"/>
          <p:nvPr/>
        </p:nvSpPr>
        <p:spPr>
          <a:xfrm>
            <a:off x="7749858" y="2830538"/>
            <a:ext cx="42840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Below Min Salary: :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246A1BD9-59BD-467C-9A84-D6A5E4382773}"/>
              </a:ext>
            </a:extLst>
          </p:cNvPr>
          <p:cNvSpPr txBox="1"/>
          <p:nvPr/>
        </p:nvSpPr>
        <p:spPr>
          <a:xfrm>
            <a:off x="1719405" y="2728688"/>
            <a:ext cx="15946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NG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Attrition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Freeform 25">
            <a:extLst>
              <a:ext uri="{FF2B5EF4-FFF2-40B4-BE49-F238E27FC236}">
                <a16:creationId xmlns:a16="http://schemas.microsoft.com/office/drawing/2014/main" id="{82A9CD09-E5BD-4051-A55B-752BE1EA490F}"/>
              </a:ext>
            </a:extLst>
          </p:cNvPr>
          <p:cNvSpPr>
            <a:spLocks/>
          </p:cNvSpPr>
          <p:nvPr/>
        </p:nvSpPr>
        <p:spPr bwMode="auto">
          <a:xfrm>
            <a:off x="3449669" y="2398025"/>
            <a:ext cx="1376771" cy="1336569"/>
          </a:xfrm>
          <a:custGeom>
            <a:avLst/>
            <a:gdLst>
              <a:gd name="T0" fmla="*/ 276 w 336"/>
              <a:gd name="T1" fmla="*/ 276 h 336"/>
              <a:gd name="T2" fmla="*/ 60 w 336"/>
              <a:gd name="T3" fmla="*/ 276 h 336"/>
              <a:gd name="T4" fmla="*/ 60 w 336"/>
              <a:gd name="T5" fmla="*/ 60 h 336"/>
              <a:gd name="T6" fmla="*/ 276 w 336"/>
              <a:gd name="T7" fmla="*/ 60 h 336"/>
              <a:gd name="T8" fmla="*/ 276 w 336"/>
              <a:gd name="T9" fmla="*/ 27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336">
                <a:moveTo>
                  <a:pt x="276" y="276"/>
                </a:moveTo>
                <a:cubicBezTo>
                  <a:pt x="217" y="336"/>
                  <a:pt x="120" y="336"/>
                  <a:pt x="60" y="276"/>
                </a:cubicBezTo>
                <a:cubicBezTo>
                  <a:pt x="0" y="217"/>
                  <a:pt x="0" y="120"/>
                  <a:pt x="60" y="60"/>
                </a:cubicBezTo>
                <a:cubicBezTo>
                  <a:pt x="120" y="0"/>
                  <a:pt x="217" y="0"/>
                  <a:pt x="276" y="60"/>
                </a:cubicBezTo>
                <a:cubicBezTo>
                  <a:pt x="336" y="120"/>
                  <a:pt x="336" y="217"/>
                  <a:pt x="276" y="276"/>
                </a:cubicBezTo>
                <a:close/>
              </a:path>
            </a:pathLst>
          </a:cu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NG" sz="3200" b="1" dirty="0"/>
              <a:t>237</a:t>
            </a:r>
            <a:endParaRPr lang="en-US" sz="3200" b="1" dirty="0"/>
          </a:p>
        </p:txBody>
      </p:sp>
      <p:sp>
        <p:nvSpPr>
          <p:cNvPr id="35" name="Freeform 27">
            <a:extLst>
              <a:ext uri="{FF2B5EF4-FFF2-40B4-BE49-F238E27FC236}">
                <a16:creationId xmlns:a16="http://schemas.microsoft.com/office/drawing/2014/main" id="{AAE4382C-A236-4EFC-A5CF-301D418C624F}"/>
              </a:ext>
            </a:extLst>
          </p:cNvPr>
          <p:cNvSpPr>
            <a:spLocks/>
          </p:cNvSpPr>
          <p:nvPr/>
        </p:nvSpPr>
        <p:spPr bwMode="auto">
          <a:xfrm>
            <a:off x="5399088" y="1187450"/>
            <a:ext cx="1397000" cy="1397000"/>
          </a:xfrm>
          <a:custGeom>
            <a:avLst/>
            <a:gdLst>
              <a:gd name="T0" fmla="*/ 60 w 336"/>
              <a:gd name="T1" fmla="*/ 276 h 336"/>
              <a:gd name="T2" fmla="*/ 60 w 336"/>
              <a:gd name="T3" fmla="*/ 60 h 336"/>
              <a:gd name="T4" fmla="*/ 276 w 336"/>
              <a:gd name="T5" fmla="*/ 60 h 336"/>
              <a:gd name="T6" fmla="*/ 276 w 336"/>
              <a:gd name="T7" fmla="*/ 276 h 336"/>
              <a:gd name="T8" fmla="*/ 60 w 336"/>
              <a:gd name="T9" fmla="*/ 27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336">
                <a:moveTo>
                  <a:pt x="60" y="276"/>
                </a:moveTo>
                <a:cubicBezTo>
                  <a:pt x="0" y="217"/>
                  <a:pt x="0" y="120"/>
                  <a:pt x="60" y="60"/>
                </a:cubicBezTo>
                <a:cubicBezTo>
                  <a:pt x="120" y="0"/>
                  <a:pt x="217" y="0"/>
                  <a:pt x="276" y="60"/>
                </a:cubicBezTo>
                <a:cubicBezTo>
                  <a:pt x="336" y="120"/>
                  <a:pt x="336" y="217"/>
                  <a:pt x="276" y="276"/>
                </a:cubicBezTo>
                <a:cubicBezTo>
                  <a:pt x="217" y="336"/>
                  <a:pt x="120" y="336"/>
                  <a:pt x="60" y="276"/>
                </a:cubicBezTo>
                <a:close/>
              </a:path>
            </a:pathLst>
          </a:cu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NG" sz="2800" b="1" dirty="0"/>
              <a:t>1470</a:t>
            </a:r>
            <a:endParaRPr lang="en-US" sz="2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3380BC47-47FB-44F3-9E0B-80B83E426031}"/>
              </a:ext>
            </a:extLst>
          </p:cNvPr>
          <p:cNvSpPr txBox="1"/>
          <p:nvPr/>
        </p:nvSpPr>
        <p:spPr>
          <a:xfrm>
            <a:off x="5320783" y="798354"/>
            <a:ext cx="15946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NG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Employees 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36571B2F-0463-48D1-8CC7-EA6BC8F3FB67}"/>
              </a:ext>
            </a:extLst>
          </p:cNvPr>
          <p:cNvSpPr txBox="1"/>
          <p:nvPr/>
        </p:nvSpPr>
        <p:spPr>
          <a:xfrm>
            <a:off x="833883" y="4682536"/>
            <a:ext cx="15946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NG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Attrition Rate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7" name="Group 26" descr="This image is of a man seen from the back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894501" y="3205118"/>
            <a:ext cx="2668588" cy="2679700"/>
            <a:chOff x="4832350" y="3127375"/>
            <a:chExt cx="2668588" cy="267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1" name="TextBox 330">
            <a:extLst>
              <a:ext uri="{FF2B5EF4-FFF2-40B4-BE49-F238E27FC236}">
                <a16:creationId xmlns:a16="http://schemas.microsoft.com/office/drawing/2014/main" id="{62109C55-9EBC-4778-80D4-D55D22307915}"/>
              </a:ext>
            </a:extLst>
          </p:cNvPr>
          <p:cNvSpPr txBox="1"/>
          <p:nvPr/>
        </p:nvSpPr>
        <p:spPr>
          <a:xfrm>
            <a:off x="9891871" y="4780874"/>
            <a:ext cx="15946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NG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Salary</a:t>
            </a:r>
            <a:endParaRPr lang="en-US" sz="1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6063174"/>
            <a:ext cx="403660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NG" sz="2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Performance Indicators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17" name="Freeform 25">
            <a:extLst>
              <a:ext uri="{FF2B5EF4-FFF2-40B4-BE49-F238E27FC236}">
                <a16:creationId xmlns:a16="http://schemas.microsoft.com/office/drawing/2014/main" id="{5358B68C-A5B6-431C-8A43-3E23410DE27A}"/>
              </a:ext>
            </a:extLst>
          </p:cNvPr>
          <p:cNvSpPr>
            <a:spLocks/>
          </p:cNvSpPr>
          <p:nvPr/>
        </p:nvSpPr>
        <p:spPr bwMode="auto">
          <a:xfrm>
            <a:off x="7444853" y="2438506"/>
            <a:ext cx="1376771" cy="1336569"/>
          </a:xfrm>
          <a:custGeom>
            <a:avLst/>
            <a:gdLst>
              <a:gd name="T0" fmla="*/ 276 w 336"/>
              <a:gd name="T1" fmla="*/ 276 h 336"/>
              <a:gd name="T2" fmla="*/ 60 w 336"/>
              <a:gd name="T3" fmla="*/ 276 h 336"/>
              <a:gd name="T4" fmla="*/ 60 w 336"/>
              <a:gd name="T5" fmla="*/ 60 h 336"/>
              <a:gd name="T6" fmla="*/ 276 w 336"/>
              <a:gd name="T7" fmla="*/ 60 h 336"/>
              <a:gd name="T8" fmla="*/ 276 w 336"/>
              <a:gd name="T9" fmla="*/ 27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336">
                <a:moveTo>
                  <a:pt x="276" y="276"/>
                </a:moveTo>
                <a:cubicBezTo>
                  <a:pt x="217" y="336"/>
                  <a:pt x="120" y="336"/>
                  <a:pt x="60" y="276"/>
                </a:cubicBezTo>
                <a:cubicBezTo>
                  <a:pt x="0" y="217"/>
                  <a:pt x="0" y="120"/>
                  <a:pt x="60" y="60"/>
                </a:cubicBezTo>
                <a:cubicBezTo>
                  <a:pt x="120" y="0"/>
                  <a:pt x="217" y="0"/>
                  <a:pt x="276" y="60"/>
                </a:cubicBezTo>
                <a:cubicBezTo>
                  <a:pt x="336" y="120"/>
                  <a:pt x="336" y="217"/>
                  <a:pt x="276" y="276"/>
                </a:cubicBezTo>
                <a:close/>
              </a:path>
            </a:pathLst>
          </a:cu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NG" sz="2700" b="1" dirty="0"/>
              <a:t>77.35%</a:t>
            </a:r>
            <a:endParaRPr lang="en-US" sz="2700" b="1" dirty="0"/>
          </a:p>
        </p:txBody>
      </p:sp>
      <p:sp>
        <p:nvSpPr>
          <p:cNvPr id="118" name="Freeform 25">
            <a:extLst>
              <a:ext uri="{FF2B5EF4-FFF2-40B4-BE49-F238E27FC236}">
                <a16:creationId xmlns:a16="http://schemas.microsoft.com/office/drawing/2014/main" id="{FD14E89C-29E7-47B1-836E-D05FBA423F63}"/>
              </a:ext>
            </a:extLst>
          </p:cNvPr>
          <p:cNvSpPr>
            <a:spLocks/>
          </p:cNvSpPr>
          <p:nvPr/>
        </p:nvSpPr>
        <p:spPr bwMode="auto">
          <a:xfrm>
            <a:off x="2761283" y="4235701"/>
            <a:ext cx="1376771" cy="1336569"/>
          </a:xfrm>
          <a:custGeom>
            <a:avLst/>
            <a:gdLst>
              <a:gd name="T0" fmla="*/ 276 w 336"/>
              <a:gd name="T1" fmla="*/ 276 h 336"/>
              <a:gd name="T2" fmla="*/ 60 w 336"/>
              <a:gd name="T3" fmla="*/ 276 h 336"/>
              <a:gd name="T4" fmla="*/ 60 w 336"/>
              <a:gd name="T5" fmla="*/ 60 h 336"/>
              <a:gd name="T6" fmla="*/ 276 w 336"/>
              <a:gd name="T7" fmla="*/ 60 h 336"/>
              <a:gd name="T8" fmla="*/ 276 w 336"/>
              <a:gd name="T9" fmla="*/ 27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336">
                <a:moveTo>
                  <a:pt x="276" y="276"/>
                </a:moveTo>
                <a:cubicBezTo>
                  <a:pt x="217" y="336"/>
                  <a:pt x="120" y="336"/>
                  <a:pt x="60" y="276"/>
                </a:cubicBezTo>
                <a:cubicBezTo>
                  <a:pt x="0" y="217"/>
                  <a:pt x="0" y="120"/>
                  <a:pt x="60" y="60"/>
                </a:cubicBezTo>
                <a:cubicBezTo>
                  <a:pt x="120" y="0"/>
                  <a:pt x="217" y="0"/>
                  <a:pt x="276" y="60"/>
                </a:cubicBezTo>
                <a:cubicBezTo>
                  <a:pt x="336" y="120"/>
                  <a:pt x="336" y="217"/>
                  <a:pt x="276" y="276"/>
                </a:cubicBezTo>
                <a:close/>
              </a:path>
            </a:pathLst>
          </a:cu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NG" sz="2700" b="1" dirty="0"/>
              <a:t>16.12%</a:t>
            </a:r>
            <a:endParaRPr lang="en-US" sz="2700" b="1" dirty="0"/>
          </a:p>
        </p:txBody>
      </p:sp>
      <p:sp>
        <p:nvSpPr>
          <p:cNvPr id="119" name="Freeform 25">
            <a:extLst>
              <a:ext uri="{FF2B5EF4-FFF2-40B4-BE49-F238E27FC236}">
                <a16:creationId xmlns:a16="http://schemas.microsoft.com/office/drawing/2014/main" id="{B4B20892-7699-4D83-80EE-C5BD55276BA6}"/>
              </a:ext>
            </a:extLst>
          </p:cNvPr>
          <p:cNvSpPr>
            <a:spLocks/>
          </p:cNvSpPr>
          <p:nvPr/>
        </p:nvSpPr>
        <p:spPr bwMode="auto">
          <a:xfrm>
            <a:off x="8333935" y="4291021"/>
            <a:ext cx="1376771" cy="1336569"/>
          </a:xfrm>
          <a:custGeom>
            <a:avLst/>
            <a:gdLst>
              <a:gd name="T0" fmla="*/ 276 w 336"/>
              <a:gd name="T1" fmla="*/ 276 h 336"/>
              <a:gd name="T2" fmla="*/ 60 w 336"/>
              <a:gd name="T3" fmla="*/ 276 h 336"/>
              <a:gd name="T4" fmla="*/ 60 w 336"/>
              <a:gd name="T5" fmla="*/ 60 h 336"/>
              <a:gd name="T6" fmla="*/ 276 w 336"/>
              <a:gd name="T7" fmla="*/ 60 h 336"/>
              <a:gd name="T8" fmla="*/ 276 w 336"/>
              <a:gd name="T9" fmla="*/ 27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336">
                <a:moveTo>
                  <a:pt x="276" y="276"/>
                </a:moveTo>
                <a:cubicBezTo>
                  <a:pt x="217" y="336"/>
                  <a:pt x="120" y="336"/>
                  <a:pt x="60" y="276"/>
                </a:cubicBezTo>
                <a:cubicBezTo>
                  <a:pt x="0" y="217"/>
                  <a:pt x="0" y="120"/>
                  <a:pt x="60" y="60"/>
                </a:cubicBezTo>
                <a:cubicBezTo>
                  <a:pt x="120" y="0"/>
                  <a:pt x="217" y="0"/>
                  <a:pt x="276" y="60"/>
                </a:cubicBezTo>
                <a:cubicBezTo>
                  <a:pt x="336" y="120"/>
                  <a:pt x="336" y="217"/>
                  <a:pt x="276" y="276"/>
                </a:cubicBezTo>
                <a:close/>
              </a:path>
            </a:pathLst>
          </a:custGeom>
          <a:gradFill>
            <a:gsLst>
              <a:gs pos="0">
                <a:srgbClr val="7CEFD8"/>
              </a:gs>
              <a:gs pos="50000">
                <a:srgbClr val="6672E4"/>
              </a:gs>
              <a:gs pos="100000">
                <a:srgbClr val="882BE5"/>
              </a:gs>
            </a:gsLst>
            <a:lin ang="7800000" scaled="0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NG" sz="2500" b="1" dirty="0"/>
              <a:t>6502.93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86973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5257799" y="379963"/>
            <a:ext cx="6172201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4000"/>
              </a:lnSpc>
            </a:pPr>
            <a:r>
              <a:rPr lang="en-NG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Workforce Composition</a:t>
            </a:r>
            <a:endParaRPr lang="en-US" sz="3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B5D39-FFB4-48DA-8278-FC3F12E94DD9}"/>
              </a:ext>
            </a:extLst>
          </p:cNvPr>
          <p:cNvSpPr/>
          <p:nvPr/>
        </p:nvSpPr>
        <p:spPr>
          <a:xfrm>
            <a:off x="398585" y="4525110"/>
            <a:ext cx="11497838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500" b="1" i="1" dirty="0">
                <a:solidFill>
                  <a:srgbClr val="030553"/>
                </a:solidFill>
              </a:rPr>
              <a:t>Insights:</a:t>
            </a:r>
          </a:p>
          <a:p>
            <a:r>
              <a:rPr lang="en-US" sz="1500" b="1" i="1" dirty="0">
                <a:solidFill>
                  <a:srgbClr val="030553"/>
                </a:solidFill>
              </a:rPr>
              <a:t>Gender Distribution</a:t>
            </a:r>
            <a:r>
              <a:rPr lang="en-US" sz="1400" b="1" i="1" dirty="0">
                <a:solidFill>
                  <a:srgbClr val="030553"/>
                </a:solidFill>
              </a:rPr>
              <a:t>: Research &amp; Development has the highest employee count and is male-dominated. Human Resources is largely female-dominated.</a:t>
            </a:r>
          </a:p>
          <a:p>
            <a:r>
              <a:rPr lang="en-US" sz="1500" b="1" i="1" dirty="0">
                <a:solidFill>
                  <a:srgbClr val="030553"/>
                </a:solidFill>
              </a:rPr>
              <a:t>Job Roles</a:t>
            </a:r>
            <a:r>
              <a:rPr lang="en-US" sz="1400" b="1" i="1" dirty="0">
                <a:solidFill>
                  <a:srgbClr val="030553"/>
                </a:solidFill>
              </a:rPr>
              <a:t>: Some technical roles like Research Scientist and Laboratory Technician are male-dominated and are considered less suitable for females due to the nature of the job. HR and Sales Exec roles skew female.</a:t>
            </a:r>
          </a:p>
          <a:p>
            <a:r>
              <a:rPr lang="en-US" sz="1500" b="1" i="1" dirty="0">
                <a:solidFill>
                  <a:srgbClr val="030553"/>
                </a:solidFill>
              </a:rPr>
              <a:t>Role Suitability</a:t>
            </a:r>
            <a:r>
              <a:rPr lang="en-US" sz="1400" b="1" i="1" dirty="0">
                <a:solidFill>
                  <a:srgbClr val="030553"/>
                </a:solidFill>
              </a:rPr>
              <a:t>: The gender distribution reflects the perceived suitability of certain roles for specific genders, rather than a direct imbalance risk.</a:t>
            </a:r>
          </a:p>
          <a:p>
            <a:r>
              <a:rPr lang="en-US" sz="1500" b="1" i="1" dirty="0">
                <a:solidFill>
                  <a:srgbClr val="030553"/>
                </a:solidFill>
              </a:rPr>
              <a:t>Recommendation</a:t>
            </a:r>
            <a:r>
              <a:rPr lang="en-US" sz="1400" b="1" i="1" dirty="0">
                <a:solidFill>
                  <a:srgbClr val="030553"/>
                </a:solidFill>
              </a:rPr>
              <a:t>: Maintain gender inclusivity in departments where participation is feasible and ensure equitable opportunities in roles where gender balance is achievable.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598F54A-CC95-4972-B9B3-B6EDB5DFB5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7744356"/>
              </p:ext>
            </p:extLst>
          </p:nvPr>
        </p:nvGraphicFramePr>
        <p:xfrm>
          <a:off x="387017" y="1090668"/>
          <a:ext cx="5708984" cy="3425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6849A60-A9DD-436A-9C23-A77E4E94C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92522"/>
              </p:ext>
            </p:extLst>
          </p:nvPr>
        </p:nvGraphicFramePr>
        <p:xfrm>
          <a:off x="5922498" y="1162161"/>
          <a:ext cx="5882485" cy="3064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3206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5257799" y="379963"/>
            <a:ext cx="6172201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4000"/>
              </a:lnSpc>
            </a:pPr>
            <a:r>
              <a:rPr lang="en-NG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Salary Structure </a:t>
            </a:r>
            <a:endParaRPr lang="en-US" sz="3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B5D39-FFB4-48DA-8278-FC3F12E94DD9}"/>
              </a:ext>
            </a:extLst>
          </p:cNvPr>
          <p:cNvSpPr/>
          <p:nvPr/>
        </p:nvSpPr>
        <p:spPr>
          <a:xfrm>
            <a:off x="729022" y="4754488"/>
            <a:ext cx="11462978" cy="1723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Insights:- 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Gender Pay Gap: </a:t>
            </a:r>
            <a:r>
              <a:rPr lang="en-NG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M</a:t>
            </a:r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ales earn less on average (₦6,320) vs </a:t>
            </a:r>
            <a:r>
              <a:rPr lang="en-NG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fem</a:t>
            </a:r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ales (₦6,626), resulting in a gap of ₦306. This confirms a gender pay disparity.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Minimum Salary Compliance: About 77% of employees earn below the ₦9,000 monthly minimum — a critical compliance risk.- 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Salary Bands: Most employees fall into the 5000–8000 range. Very few earn above ₦10,000.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Recommendation:- Implement a salary audit and introduce structured pay bands tied to job roles and experience.- Immediately adjust salaries below the legal threshold.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26E860F-5969-4364-83B2-EDB737A4F7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5764819"/>
              </p:ext>
            </p:extLst>
          </p:nvPr>
        </p:nvGraphicFramePr>
        <p:xfrm>
          <a:off x="-536653" y="817385"/>
          <a:ext cx="7203622" cy="3795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E11AA17-F78E-4700-A71D-B2025153F8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180667"/>
              </p:ext>
            </p:extLst>
          </p:nvPr>
        </p:nvGraphicFramePr>
        <p:xfrm>
          <a:off x="6903667" y="863600"/>
          <a:ext cx="4151085" cy="368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2657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3766624" y="173965"/>
            <a:ext cx="6172201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4000"/>
              </a:lnSpc>
            </a:pPr>
            <a:r>
              <a:rPr lang="en-NG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vs Pay</a:t>
            </a:r>
            <a:endParaRPr lang="en-US" sz="3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B5D39-FFB4-48DA-8278-FC3F12E94DD9}"/>
              </a:ext>
            </a:extLst>
          </p:cNvPr>
          <p:cNvSpPr/>
          <p:nvPr/>
        </p:nvSpPr>
        <p:spPr>
          <a:xfrm>
            <a:off x="410154" y="4905557"/>
            <a:ext cx="11394830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Insights:- Top Performers (Rating 4): Paid higher than average, but a few still earn below ₦9,000 — indicating misaligned rewards.-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Performance vs Years: Longer tenure does not always correlate with higher performance; some newer employees outperform veterans.</a:t>
            </a:r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NG" sz="14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4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Recommendation:- Link salary increments and bonuses more closely with performance rating.- Consider revising promotion/bonus policies to be performance-based rather than tenure-based.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6059954-69A1-4C60-AD9A-A83B4C8C84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8637236"/>
              </p:ext>
            </p:extLst>
          </p:nvPr>
        </p:nvGraphicFramePr>
        <p:xfrm>
          <a:off x="308597" y="955987"/>
          <a:ext cx="5899943" cy="3352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67036FA-B548-4F3F-B907-903DE803D4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409111"/>
              </p:ext>
            </p:extLst>
          </p:nvPr>
        </p:nvGraphicFramePr>
        <p:xfrm>
          <a:off x="6428936" y="814474"/>
          <a:ext cx="5376047" cy="3635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0107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2532185" y="215653"/>
            <a:ext cx="8785273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NG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Promotions and Opportunities </a:t>
            </a:r>
            <a:endParaRPr lang="en-US" sz="3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B5D39-FFB4-48DA-8278-FC3F12E94DD9}"/>
              </a:ext>
            </a:extLst>
          </p:cNvPr>
          <p:cNvSpPr/>
          <p:nvPr/>
        </p:nvSpPr>
        <p:spPr>
          <a:xfrm>
            <a:off x="387016" y="4783912"/>
            <a:ext cx="11417967" cy="1723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Insights:- 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By Gender: Males are more likely to be promoted than females.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By Department: Promotions are concentrated in Research &amp; Development. HR shows low promotion activity.- 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Patterns: Those not promoted have longer gaps since their last promotion.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Recommendation:- Launch fair promotion criteria, with regular performance reviews and promotion cycles.- Ensure gender-balanced promotion panels.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51FCA57-678E-4000-B64A-CF39C7FD6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158502"/>
              </p:ext>
            </p:extLst>
          </p:nvPr>
        </p:nvGraphicFramePr>
        <p:xfrm>
          <a:off x="387016" y="942535"/>
          <a:ext cx="6084122" cy="3742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346B0CD-C0F7-49CF-92D8-959ECCC321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981381"/>
              </p:ext>
            </p:extLst>
          </p:nvPr>
        </p:nvGraphicFramePr>
        <p:xfrm>
          <a:off x="6372663" y="942535"/>
          <a:ext cx="5432319" cy="3841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5179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2532185" y="215653"/>
            <a:ext cx="8785273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4000"/>
              </a:lnSpc>
            </a:pPr>
            <a:r>
              <a:rPr lang="en-NG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Attrition and Turnover</a:t>
            </a:r>
            <a:endParaRPr lang="en-US" sz="36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B5D39-FFB4-48DA-8278-FC3F12E94DD9}"/>
              </a:ext>
            </a:extLst>
          </p:cNvPr>
          <p:cNvSpPr/>
          <p:nvPr/>
        </p:nvSpPr>
        <p:spPr>
          <a:xfrm>
            <a:off x="387016" y="4783912"/>
            <a:ext cx="11429846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Insights:- Attrition Rate: 16.12% — high and costly for a growing firm.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Departments: R&amp;D suffers most attrition; Human Resources has the least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By Gender: Female attrition is higher, suggesting potential dissatisfaction. 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By Salary &amp; Performance: Low earners and mid-to-high performers are leaving more — possibly due to lack of recognition or growth.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Recommendation:- Conduct exit interviews to identify root causes.</a:t>
            </a:r>
            <a:endParaRPr lang="en-NG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US" sz="1600" b="1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Offer career development paths, retention bonuses, and mentorship for high performers.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53C7744-48DE-41ED-A238-8DB67AF5FE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5945621"/>
              </p:ext>
            </p:extLst>
          </p:nvPr>
        </p:nvGraphicFramePr>
        <p:xfrm>
          <a:off x="256890" y="872198"/>
          <a:ext cx="5510863" cy="3738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C0857B4-646B-4D52-8A4E-17A66FF47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7203946"/>
              </p:ext>
            </p:extLst>
          </p:nvPr>
        </p:nvGraphicFramePr>
        <p:xfrm>
          <a:off x="5419579" y="872198"/>
          <a:ext cx="6515530" cy="3911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5653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10</a:t>
            </a:r>
          </a:p>
        </p:txBody>
      </p:sp>
      <p:grpSp>
        <p:nvGrpSpPr>
          <p:cNvPr id="19" name="Group 18" descr="This image is a logo that reads &quot;24.&quot; ">
            <a:extLst>
              <a:ext uri="{FF2B5EF4-FFF2-40B4-BE49-F238E27FC236}">
                <a16:creationId xmlns:a16="http://schemas.microsoft.com/office/drawing/2014/main" id="{28514796-5CCE-4908-9069-378D749B8407}"/>
              </a:ext>
            </a:extLst>
          </p:cNvPr>
          <p:cNvGrpSpPr/>
          <p:nvPr/>
        </p:nvGrpSpPr>
        <p:grpSpPr>
          <a:xfrm>
            <a:off x="733192" y="531685"/>
            <a:ext cx="530996" cy="530996"/>
            <a:chOff x="1116392" y="531685"/>
            <a:chExt cx="530996" cy="53099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DAFE0C3-ADBF-4568-8971-E7BB1DC18FCF}"/>
                </a:ext>
              </a:extLst>
            </p:cNvPr>
            <p:cNvSpPr/>
            <p:nvPr/>
          </p:nvSpPr>
          <p:spPr>
            <a:xfrm>
              <a:off x="1116392" y="531685"/>
              <a:ext cx="530996" cy="530996"/>
            </a:xfrm>
            <a:prstGeom prst="roundRect">
              <a:avLst/>
            </a:prstGeom>
            <a:gradFill flip="none" rotWithShape="1">
              <a:gsLst>
                <a:gs pos="100000">
                  <a:srgbClr val="FE7B4C"/>
                </a:gs>
                <a:gs pos="0">
                  <a:srgbClr val="FE7B4C">
                    <a:lumMod val="83000"/>
                    <a:lumOff val="17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glow rad="254000">
                <a:srgbClr val="FE7B4C">
                  <a:alpha val="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C540A9-B6C9-4A39-B2A9-F8D99AAA7515}"/>
                </a:ext>
              </a:extLst>
            </p:cNvPr>
            <p:cNvGrpSpPr/>
            <p:nvPr/>
          </p:nvGrpSpPr>
          <p:grpSpPr>
            <a:xfrm>
              <a:off x="1225345" y="623888"/>
              <a:ext cx="313090" cy="346590"/>
              <a:chOff x="-2198688" y="-1935162"/>
              <a:chExt cx="1157288" cy="1281111"/>
            </a:xfrm>
          </p:grpSpPr>
          <p:sp>
            <p:nvSpPr>
              <p:cNvPr id="27" name="Freeform 11">
                <a:hlinkClick r:id="rId3"/>
                <a:extLst>
                  <a:ext uri="{FF2B5EF4-FFF2-40B4-BE49-F238E27FC236}">
                    <a16:creationId xmlns:a16="http://schemas.microsoft.com/office/drawing/2014/main" id="{AFF915B9-3BC1-4270-81D2-171636BAF0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836738" y="-1697038"/>
                <a:ext cx="795338" cy="1042987"/>
              </a:xfrm>
              <a:custGeom>
                <a:avLst/>
                <a:gdLst>
                  <a:gd name="T0" fmla="*/ 76 w 512"/>
                  <a:gd name="T1" fmla="*/ 419 h 673"/>
                  <a:gd name="T2" fmla="*/ 79 w 512"/>
                  <a:gd name="T3" fmla="*/ 412 h 673"/>
                  <a:gd name="T4" fmla="*/ 287 w 512"/>
                  <a:gd name="T5" fmla="*/ 115 h 673"/>
                  <a:gd name="T6" fmla="*/ 294 w 512"/>
                  <a:gd name="T7" fmla="*/ 110 h 673"/>
                  <a:gd name="T8" fmla="*/ 295 w 512"/>
                  <a:gd name="T9" fmla="*/ 110 h 673"/>
                  <a:gd name="T10" fmla="*/ 299 w 512"/>
                  <a:gd name="T11" fmla="*/ 115 h 673"/>
                  <a:gd name="T12" fmla="*/ 299 w 512"/>
                  <a:gd name="T13" fmla="*/ 425 h 673"/>
                  <a:gd name="T14" fmla="*/ 83 w 512"/>
                  <a:gd name="T15" fmla="*/ 425 h 673"/>
                  <a:gd name="T16" fmla="*/ 76 w 512"/>
                  <a:gd name="T17" fmla="*/ 419 h 673"/>
                  <a:gd name="T18" fmla="*/ 304 w 512"/>
                  <a:gd name="T19" fmla="*/ 0 h 673"/>
                  <a:gd name="T20" fmla="*/ 278 w 512"/>
                  <a:gd name="T21" fmla="*/ 14 h 673"/>
                  <a:gd name="T22" fmla="*/ 11 w 512"/>
                  <a:gd name="T23" fmla="*/ 390 h 673"/>
                  <a:gd name="T24" fmla="*/ 0 w 512"/>
                  <a:gd name="T25" fmla="*/ 424 h 673"/>
                  <a:gd name="T26" fmla="*/ 0 w 512"/>
                  <a:gd name="T27" fmla="*/ 458 h 673"/>
                  <a:gd name="T28" fmla="*/ 37 w 512"/>
                  <a:gd name="T29" fmla="*/ 494 h 673"/>
                  <a:gd name="T30" fmla="*/ 298 w 512"/>
                  <a:gd name="T31" fmla="*/ 494 h 673"/>
                  <a:gd name="T32" fmla="*/ 298 w 512"/>
                  <a:gd name="T33" fmla="*/ 655 h 673"/>
                  <a:gd name="T34" fmla="*/ 313 w 512"/>
                  <a:gd name="T35" fmla="*/ 673 h 673"/>
                  <a:gd name="T36" fmla="*/ 365 w 512"/>
                  <a:gd name="T37" fmla="*/ 673 h 673"/>
                  <a:gd name="T38" fmla="*/ 381 w 512"/>
                  <a:gd name="T39" fmla="*/ 655 h 673"/>
                  <a:gd name="T40" fmla="*/ 381 w 512"/>
                  <a:gd name="T41" fmla="*/ 494 h 673"/>
                  <a:gd name="T42" fmla="*/ 494 w 512"/>
                  <a:gd name="T43" fmla="*/ 494 h 673"/>
                  <a:gd name="T44" fmla="*/ 512 w 512"/>
                  <a:gd name="T45" fmla="*/ 477 h 673"/>
                  <a:gd name="T46" fmla="*/ 512 w 512"/>
                  <a:gd name="T47" fmla="*/ 441 h 673"/>
                  <a:gd name="T48" fmla="*/ 494 w 512"/>
                  <a:gd name="T49" fmla="*/ 425 h 673"/>
                  <a:gd name="T50" fmla="*/ 381 w 512"/>
                  <a:gd name="T51" fmla="*/ 425 h 673"/>
                  <a:gd name="T52" fmla="*/ 381 w 512"/>
                  <a:gd name="T53" fmla="*/ 20 h 673"/>
                  <a:gd name="T54" fmla="*/ 357 w 512"/>
                  <a:gd name="T55" fmla="*/ 0 h 673"/>
                  <a:gd name="T56" fmla="*/ 304 w 512"/>
                  <a:gd name="T57" fmla="*/ 0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12" h="673">
                    <a:moveTo>
                      <a:pt x="76" y="419"/>
                    </a:moveTo>
                    <a:cubicBezTo>
                      <a:pt x="76" y="418"/>
                      <a:pt x="77" y="415"/>
                      <a:pt x="79" y="412"/>
                    </a:cubicBezTo>
                    <a:cubicBezTo>
                      <a:pt x="287" y="115"/>
                      <a:pt x="287" y="115"/>
                      <a:pt x="287" y="115"/>
                    </a:cubicBezTo>
                    <a:cubicBezTo>
                      <a:pt x="289" y="112"/>
                      <a:pt x="291" y="110"/>
                      <a:pt x="294" y="110"/>
                    </a:cubicBezTo>
                    <a:cubicBezTo>
                      <a:pt x="295" y="110"/>
                      <a:pt x="295" y="110"/>
                      <a:pt x="295" y="110"/>
                    </a:cubicBezTo>
                    <a:cubicBezTo>
                      <a:pt x="298" y="110"/>
                      <a:pt x="299" y="111"/>
                      <a:pt x="299" y="115"/>
                    </a:cubicBezTo>
                    <a:cubicBezTo>
                      <a:pt x="299" y="425"/>
                      <a:pt x="299" y="425"/>
                      <a:pt x="299" y="425"/>
                    </a:cubicBezTo>
                    <a:cubicBezTo>
                      <a:pt x="83" y="425"/>
                      <a:pt x="83" y="425"/>
                      <a:pt x="83" y="425"/>
                    </a:cubicBezTo>
                    <a:cubicBezTo>
                      <a:pt x="79" y="425"/>
                      <a:pt x="76" y="423"/>
                      <a:pt x="76" y="419"/>
                    </a:cubicBezTo>
                    <a:moveTo>
                      <a:pt x="304" y="0"/>
                    </a:moveTo>
                    <a:cubicBezTo>
                      <a:pt x="289" y="0"/>
                      <a:pt x="282" y="7"/>
                      <a:pt x="278" y="14"/>
                    </a:cubicBezTo>
                    <a:cubicBezTo>
                      <a:pt x="11" y="390"/>
                      <a:pt x="11" y="390"/>
                      <a:pt x="11" y="390"/>
                    </a:cubicBezTo>
                    <a:cubicBezTo>
                      <a:pt x="3" y="401"/>
                      <a:pt x="0" y="412"/>
                      <a:pt x="0" y="424"/>
                    </a:cubicBezTo>
                    <a:cubicBezTo>
                      <a:pt x="0" y="458"/>
                      <a:pt x="0" y="458"/>
                      <a:pt x="0" y="458"/>
                    </a:cubicBezTo>
                    <a:cubicBezTo>
                      <a:pt x="0" y="485"/>
                      <a:pt x="10" y="494"/>
                      <a:pt x="37" y="494"/>
                    </a:cubicBezTo>
                    <a:cubicBezTo>
                      <a:pt x="298" y="494"/>
                      <a:pt x="298" y="494"/>
                      <a:pt x="298" y="494"/>
                    </a:cubicBezTo>
                    <a:cubicBezTo>
                      <a:pt x="298" y="655"/>
                      <a:pt x="298" y="655"/>
                      <a:pt x="298" y="655"/>
                    </a:cubicBezTo>
                    <a:cubicBezTo>
                      <a:pt x="298" y="665"/>
                      <a:pt x="303" y="673"/>
                      <a:pt x="313" y="673"/>
                    </a:cubicBezTo>
                    <a:cubicBezTo>
                      <a:pt x="365" y="673"/>
                      <a:pt x="365" y="673"/>
                      <a:pt x="365" y="673"/>
                    </a:cubicBezTo>
                    <a:cubicBezTo>
                      <a:pt x="375" y="673"/>
                      <a:pt x="381" y="664"/>
                      <a:pt x="381" y="655"/>
                    </a:cubicBezTo>
                    <a:cubicBezTo>
                      <a:pt x="381" y="494"/>
                      <a:pt x="381" y="494"/>
                      <a:pt x="381" y="494"/>
                    </a:cubicBezTo>
                    <a:cubicBezTo>
                      <a:pt x="494" y="494"/>
                      <a:pt x="494" y="494"/>
                      <a:pt x="494" y="494"/>
                    </a:cubicBezTo>
                    <a:cubicBezTo>
                      <a:pt x="504" y="494"/>
                      <a:pt x="512" y="487"/>
                      <a:pt x="512" y="477"/>
                    </a:cubicBezTo>
                    <a:cubicBezTo>
                      <a:pt x="512" y="441"/>
                      <a:pt x="512" y="441"/>
                      <a:pt x="512" y="441"/>
                    </a:cubicBezTo>
                    <a:cubicBezTo>
                      <a:pt x="512" y="431"/>
                      <a:pt x="503" y="425"/>
                      <a:pt x="494" y="425"/>
                    </a:cubicBezTo>
                    <a:cubicBezTo>
                      <a:pt x="381" y="425"/>
                      <a:pt x="381" y="425"/>
                      <a:pt x="381" y="425"/>
                    </a:cubicBezTo>
                    <a:cubicBezTo>
                      <a:pt x="381" y="20"/>
                      <a:pt x="381" y="20"/>
                      <a:pt x="381" y="20"/>
                    </a:cubicBezTo>
                    <a:cubicBezTo>
                      <a:pt x="381" y="6"/>
                      <a:pt x="372" y="0"/>
                      <a:pt x="357" y="0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" name="Freeform 12">
                <a:extLst>
                  <a:ext uri="{FF2B5EF4-FFF2-40B4-BE49-F238E27FC236}">
                    <a16:creationId xmlns:a16="http://schemas.microsoft.com/office/drawing/2014/main" id="{DD109419-50C7-4E35-AC9A-AE0655C35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98688" y="-1935162"/>
                <a:ext cx="642938" cy="1001712"/>
              </a:xfrm>
              <a:custGeom>
                <a:avLst/>
                <a:gdLst>
                  <a:gd name="T0" fmla="*/ 27 w 414"/>
                  <a:gd name="T1" fmla="*/ 18 h 647"/>
                  <a:gd name="T2" fmla="*/ 9 w 414"/>
                  <a:gd name="T3" fmla="*/ 33 h 647"/>
                  <a:gd name="T4" fmla="*/ 9 w 414"/>
                  <a:gd name="T5" fmla="*/ 63 h 647"/>
                  <a:gd name="T6" fmla="*/ 24 w 414"/>
                  <a:gd name="T7" fmla="*/ 79 h 647"/>
                  <a:gd name="T8" fmla="*/ 28 w 414"/>
                  <a:gd name="T9" fmla="*/ 79 h 647"/>
                  <a:gd name="T10" fmla="*/ 192 w 414"/>
                  <a:gd name="T11" fmla="*/ 66 h 647"/>
                  <a:gd name="T12" fmla="*/ 332 w 414"/>
                  <a:gd name="T13" fmla="*/ 155 h 647"/>
                  <a:gd name="T14" fmla="*/ 236 w 414"/>
                  <a:gd name="T15" fmla="*/ 275 h 647"/>
                  <a:gd name="T16" fmla="*/ 142 w 414"/>
                  <a:gd name="T17" fmla="*/ 334 h 647"/>
                  <a:gd name="T18" fmla="*/ 0 w 414"/>
                  <a:gd name="T19" fmla="*/ 561 h 647"/>
                  <a:gd name="T20" fmla="*/ 0 w 414"/>
                  <a:gd name="T21" fmla="*/ 631 h 647"/>
                  <a:gd name="T22" fmla="*/ 19 w 414"/>
                  <a:gd name="T23" fmla="*/ 647 h 647"/>
                  <a:gd name="T24" fmla="*/ 387 w 414"/>
                  <a:gd name="T25" fmla="*/ 647 h 647"/>
                  <a:gd name="T26" fmla="*/ 406 w 414"/>
                  <a:gd name="T27" fmla="*/ 632 h 647"/>
                  <a:gd name="T28" fmla="*/ 406 w 414"/>
                  <a:gd name="T29" fmla="*/ 594 h 647"/>
                  <a:gd name="T30" fmla="*/ 387 w 414"/>
                  <a:gd name="T31" fmla="*/ 579 h 647"/>
                  <a:gd name="T32" fmla="*/ 74 w 414"/>
                  <a:gd name="T33" fmla="*/ 579 h 647"/>
                  <a:gd name="T34" fmla="*/ 74 w 414"/>
                  <a:gd name="T35" fmla="*/ 561 h 647"/>
                  <a:gd name="T36" fmla="*/ 204 w 414"/>
                  <a:gd name="T37" fmla="*/ 377 h 647"/>
                  <a:gd name="T38" fmla="*/ 294 w 414"/>
                  <a:gd name="T39" fmla="*/ 321 h 647"/>
                  <a:gd name="T40" fmla="*/ 414 w 414"/>
                  <a:gd name="T41" fmla="*/ 155 h 647"/>
                  <a:gd name="T42" fmla="*/ 192 w 414"/>
                  <a:gd name="T43" fmla="*/ 0 h 647"/>
                  <a:gd name="T44" fmla="*/ 27 w 414"/>
                  <a:gd name="T45" fmla="*/ 18 h 6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4" h="647">
                    <a:moveTo>
                      <a:pt x="27" y="18"/>
                    </a:moveTo>
                    <a:cubicBezTo>
                      <a:pt x="18" y="19"/>
                      <a:pt x="9" y="25"/>
                      <a:pt x="9" y="3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73"/>
                      <a:pt x="15" y="79"/>
                      <a:pt x="24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80" y="72"/>
                      <a:pt x="144" y="66"/>
                      <a:pt x="192" y="66"/>
                    </a:cubicBezTo>
                    <a:cubicBezTo>
                      <a:pt x="293" y="66"/>
                      <a:pt x="332" y="93"/>
                      <a:pt x="332" y="155"/>
                    </a:cubicBezTo>
                    <a:cubicBezTo>
                      <a:pt x="332" y="207"/>
                      <a:pt x="313" y="227"/>
                      <a:pt x="236" y="275"/>
                    </a:cubicBezTo>
                    <a:cubicBezTo>
                      <a:pt x="142" y="334"/>
                      <a:pt x="142" y="334"/>
                      <a:pt x="142" y="334"/>
                    </a:cubicBezTo>
                    <a:cubicBezTo>
                      <a:pt x="41" y="397"/>
                      <a:pt x="0" y="471"/>
                      <a:pt x="0" y="561"/>
                    </a:cubicBezTo>
                    <a:cubicBezTo>
                      <a:pt x="0" y="631"/>
                      <a:pt x="0" y="631"/>
                      <a:pt x="0" y="631"/>
                    </a:cubicBezTo>
                    <a:cubicBezTo>
                      <a:pt x="0" y="640"/>
                      <a:pt x="8" y="647"/>
                      <a:pt x="19" y="647"/>
                    </a:cubicBezTo>
                    <a:cubicBezTo>
                      <a:pt x="387" y="647"/>
                      <a:pt x="387" y="647"/>
                      <a:pt x="387" y="647"/>
                    </a:cubicBezTo>
                    <a:cubicBezTo>
                      <a:pt x="398" y="647"/>
                      <a:pt x="406" y="641"/>
                      <a:pt x="406" y="632"/>
                    </a:cubicBezTo>
                    <a:cubicBezTo>
                      <a:pt x="406" y="594"/>
                      <a:pt x="406" y="594"/>
                      <a:pt x="406" y="594"/>
                    </a:cubicBezTo>
                    <a:cubicBezTo>
                      <a:pt x="406" y="584"/>
                      <a:pt x="398" y="579"/>
                      <a:pt x="387" y="579"/>
                    </a:cubicBezTo>
                    <a:cubicBezTo>
                      <a:pt x="74" y="579"/>
                      <a:pt x="74" y="579"/>
                      <a:pt x="74" y="579"/>
                    </a:cubicBezTo>
                    <a:cubicBezTo>
                      <a:pt x="74" y="561"/>
                      <a:pt x="74" y="561"/>
                      <a:pt x="74" y="561"/>
                    </a:cubicBezTo>
                    <a:cubicBezTo>
                      <a:pt x="74" y="486"/>
                      <a:pt x="101" y="442"/>
                      <a:pt x="204" y="377"/>
                    </a:cubicBezTo>
                    <a:cubicBezTo>
                      <a:pt x="294" y="321"/>
                      <a:pt x="294" y="321"/>
                      <a:pt x="294" y="321"/>
                    </a:cubicBezTo>
                    <a:cubicBezTo>
                      <a:pt x="380" y="267"/>
                      <a:pt x="414" y="223"/>
                      <a:pt x="414" y="155"/>
                    </a:cubicBezTo>
                    <a:cubicBezTo>
                      <a:pt x="414" y="49"/>
                      <a:pt x="343" y="0"/>
                      <a:pt x="192" y="0"/>
                    </a:cubicBezTo>
                    <a:cubicBezTo>
                      <a:pt x="137" y="0"/>
                      <a:pt x="74" y="6"/>
                      <a:pt x="27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5" name="Group 4" descr="This image is an icon of three human being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reeform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8" name="Freeform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9" name="Freeform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0" name="Freeform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1" name="Freeform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grpSp>
        <p:nvGrpSpPr>
          <p:cNvPr id="23" name="Group 22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516AB37-D7B9-4507-B21E-5D459905C6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A17EA8-7A9B-4350-B9C2-AA100F76C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40622C-5D03-4258-98D9-CB4F18C7FA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391</TotalTime>
  <Words>781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Segoe UI</vt:lpstr>
      <vt:lpstr>Trebuchet MS</vt:lpstr>
      <vt:lpstr>Wingdings 3</vt:lpstr>
      <vt:lpstr>Facet</vt:lpstr>
      <vt:lpstr>Human resources slide 1</vt:lpstr>
      <vt:lpstr>Human resources slide 2</vt:lpstr>
      <vt:lpstr>Human resources slide 3</vt:lpstr>
      <vt:lpstr>Human resources slide 4</vt:lpstr>
      <vt:lpstr>Human resources slide 6</vt:lpstr>
      <vt:lpstr>Human resources slide 6</vt:lpstr>
      <vt:lpstr>Human resources slide 6</vt:lpstr>
      <vt:lpstr>Human resources slide 6</vt:lpstr>
      <vt:lpstr>Human resources slide 6</vt:lpstr>
      <vt:lpstr>Human resources 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Ufuoma</dc:creator>
  <cp:lastModifiedBy>Ufuoma Avworu</cp:lastModifiedBy>
  <cp:revision>31</cp:revision>
  <dcterms:created xsi:type="dcterms:W3CDTF">2025-07-30T07:35:37Z</dcterms:created>
  <dcterms:modified xsi:type="dcterms:W3CDTF">2026-01-16T09:12:58Z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